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2"/>
  </p:notesMasterIdLst>
  <p:sldIdLst>
    <p:sldId id="256" r:id="rId5"/>
    <p:sldId id="262" r:id="rId6"/>
    <p:sldId id="263" r:id="rId7"/>
    <p:sldId id="264" r:id="rId8"/>
    <p:sldId id="265" r:id="rId9"/>
    <p:sldId id="267"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76019" autoAdjust="0"/>
  </p:normalViewPr>
  <p:slideViewPr>
    <p:cSldViewPr snapToGrid="0">
      <p:cViewPr varScale="1">
        <p:scale>
          <a:sx n="122" d="100"/>
          <a:sy n="122" d="100"/>
        </p:scale>
        <p:origin x="179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66E302-901B-4EC5-8063-F4475DEAA8C8}" type="datetimeFigureOut">
              <a:rPr lang="en-US" smtClean="0"/>
              <a:t>12/7/2022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6B3765-1535-41FB-A927-AAD2D1E85382}" type="slidenum">
              <a:rPr lang="en-US" smtClean="0"/>
              <a:t>‹#›</a:t>
            </a:fld>
            <a:endParaRPr lang="en-US" dirty="0"/>
          </a:p>
        </p:txBody>
      </p:sp>
    </p:spTree>
    <p:extLst>
      <p:ext uri="{BB962C8B-B14F-4D97-AF65-F5344CB8AC3E}">
        <p14:creationId xmlns:p14="http://schemas.microsoft.com/office/powerpoint/2010/main" val="3170152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6B3765-1535-41FB-A927-AAD2D1E85382}" type="slidenum">
              <a:rPr lang="en-US" smtClean="0"/>
              <a:t>1</a:t>
            </a:fld>
            <a:endParaRPr lang="en-US" dirty="0"/>
          </a:p>
        </p:txBody>
      </p:sp>
    </p:spTree>
    <p:extLst>
      <p:ext uri="{BB962C8B-B14F-4D97-AF65-F5344CB8AC3E}">
        <p14:creationId xmlns:p14="http://schemas.microsoft.com/office/powerpoint/2010/main" val="100150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texture distortion through the use of flow vectors can basically be encapsulated in a noise flow map, which basically encapsulates multiple CW and CCW rotating flows, whose vector components U and V are represented by the R and G channels.</a:t>
            </a:r>
          </a:p>
          <a:p>
            <a:r>
              <a:rPr lang="en-US" dirty="0"/>
              <a:t>We can then sample this flow map to attain a flow vector. We then subtract our UV vector by this flow, which forces the flow in the direction of the flow vector.</a:t>
            </a:r>
          </a:p>
          <a:p>
            <a:r>
              <a:rPr lang="en-US" dirty="0"/>
              <a:t>Overtime, if unchecked, the texture can become highly distorted and stretched as time goes on, due to the accumulation of UV manipulation of a texture over time. </a:t>
            </a:r>
          </a:p>
          <a:p>
            <a:endParaRPr lang="en-US" dirty="0"/>
          </a:p>
          <a:p>
            <a:r>
              <a:rPr lang="en-US" dirty="0"/>
              <a:t>The solution is to limit the animation really to a time range from 0 to 1 before the high distortion artifacts start becoming clear through the surface. But then, in reality, you have a surface that experiences a repetitive UV manipulation every second, and resets itself. The solution is to fade different parts of the surface non-uniformly over a period of time, and this can be achieved by the use of a </a:t>
            </a:r>
            <a:r>
              <a:rPr lang="en-US" dirty="0" err="1"/>
              <a:t>perlin</a:t>
            </a:r>
            <a:r>
              <a:rPr lang="en-US" dirty="0"/>
              <a:t>-noise flow map, which features noise in the A channel which accomplishes this.</a:t>
            </a:r>
          </a:p>
          <a:p>
            <a:endParaRPr lang="en-US" dirty="0"/>
          </a:p>
          <a:p>
            <a:r>
              <a:rPr lang="en-US" dirty="0"/>
              <a:t>The result is a what seems to be the start of water physics – the water sees visual low points where the “fading” occurs, and high points in the mid-period (highest point of distortion). The “fade to black” is removed by sampling and combining two different flows together one in a cosine-pattern and the other in sine-pattern.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Simulate waves by “jumping” the UV coordinates of the texture. This “jumping” offset is a scalar value we iteratively add to the x and y components of our generated UV vector (taken by subtracting our current UV vector by our sampled flow vector). The result is simulated waves. These jump offsets also control the length of the animation sequence of our combined flow. </a:t>
            </a:r>
          </a:p>
          <a:p>
            <a:endParaRPr lang="en-US" dirty="0"/>
          </a:p>
          <a:p>
            <a:r>
              <a:rPr lang="en-US" dirty="0"/>
              <a:t>We can manipulate how the amount of distortion and flow speed by scaling the sampled flow vectors. </a:t>
            </a:r>
          </a:p>
          <a:p>
            <a:r>
              <a:rPr lang="en-US" dirty="0"/>
              <a:t>We can change the animation time for a single wave pattern based on the phases of U and V.</a:t>
            </a:r>
          </a:p>
        </p:txBody>
      </p:sp>
      <p:sp>
        <p:nvSpPr>
          <p:cNvPr id="4" name="Slide Number Placeholder 3"/>
          <p:cNvSpPr>
            <a:spLocks noGrp="1"/>
          </p:cNvSpPr>
          <p:nvPr>
            <p:ph type="sldNum" sz="quarter" idx="5"/>
          </p:nvPr>
        </p:nvSpPr>
        <p:spPr/>
        <p:txBody>
          <a:bodyPr/>
          <a:lstStyle/>
          <a:p>
            <a:fld id="{BF6B3765-1535-41FB-A927-AAD2D1E85382}" type="slidenum">
              <a:rPr lang="en-US" smtClean="0"/>
              <a:t>3</a:t>
            </a:fld>
            <a:endParaRPr lang="en-US" dirty="0"/>
          </a:p>
        </p:txBody>
      </p:sp>
    </p:spTree>
    <p:extLst>
      <p:ext uri="{BB962C8B-B14F-4D97-AF65-F5344CB8AC3E}">
        <p14:creationId xmlns:p14="http://schemas.microsoft.com/office/powerpoint/2010/main" val="1215725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map isn’t appropriate if you have to sample and work with multiple flow vectors at once. What occurs, especially when UV jumps are 0 and Flow Speed (or the flow strength) is reduced to 0, is you get a blinking effect. This occurs because you must average the </a:t>
            </a:r>
            <a:r>
              <a:rPr lang="en-US" dirty="0" err="1"/>
              <a:t>normals</a:t>
            </a:r>
            <a:r>
              <a:rPr lang="en-US" dirty="0"/>
              <a:t> of the two flows, and a normal map stores slope/height information in tangent space, whereas something like a derivative map will store the same information in texture space.. This means you’ve eliminated the dependence on the mesh. So if you were to use a normal map, and the flow strength is 0 (which means our flow vectors are 0 and the water is at a standstill), the dominant flow in a specific region of the mesh would alternate between the two blended flows.. Causing this state change. A derivative map stores the X/Y height derivates in A and G channels, respectively, while also storing the original height map properties in the B channel. We can convert the normal vectors to height derivatives, add them and then convert them back to singular normal vector to do our operations with. </a:t>
            </a:r>
          </a:p>
        </p:txBody>
      </p:sp>
      <p:sp>
        <p:nvSpPr>
          <p:cNvPr id="4" name="Slide Number Placeholder 3"/>
          <p:cNvSpPr>
            <a:spLocks noGrp="1"/>
          </p:cNvSpPr>
          <p:nvPr>
            <p:ph type="sldNum" sz="quarter" idx="5"/>
          </p:nvPr>
        </p:nvSpPr>
        <p:spPr/>
        <p:txBody>
          <a:bodyPr/>
          <a:lstStyle/>
          <a:p>
            <a:fld id="{BF6B3765-1535-41FB-A927-AAD2D1E85382}" type="slidenum">
              <a:rPr lang="en-US" smtClean="0"/>
              <a:t>4</a:t>
            </a:fld>
            <a:endParaRPr lang="en-US" dirty="0"/>
          </a:p>
        </p:txBody>
      </p:sp>
    </p:spTree>
    <p:extLst>
      <p:ext uri="{BB962C8B-B14F-4D97-AF65-F5344CB8AC3E}">
        <p14:creationId xmlns:p14="http://schemas.microsoft.com/office/powerpoint/2010/main" val="3226703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Opaque objects are rendered before transparent ones. Transparent objects also do not write to the depth buffer. Therefore, we can render all opaque objects, grab the final depth buffer, sample the background depth texture, and find the linear depth difference between the surface and background depth. As this difference increases, we gradually increase the fog gradient exponentially. </a:t>
            </a:r>
          </a:p>
          <a:p>
            <a:endParaRPr lang="en-US" dirty="0"/>
          </a:p>
          <a:p>
            <a:r>
              <a:rPr lang="en-US" dirty="0"/>
              <a:t>Then we linearly interpolate the background color between the fog and the sampled background. We also blend in the end, ensuring the alpha of the color increases (gets opaquer) the further deep we go. </a:t>
            </a:r>
          </a:p>
        </p:txBody>
      </p:sp>
      <p:sp>
        <p:nvSpPr>
          <p:cNvPr id="4" name="Slide Number Placeholder 3"/>
          <p:cNvSpPr>
            <a:spLocks noGrp="1"/>
          </p:cNvSpPr>
          <p:nvPr>
            <p:ph type="sldNum" sz="quarter" idx="5"/>
          </p:nvPr>
        </p:nvSpPr>
        <p:spPr/>
        <p:txBody>
          <a:bodyPr/>
          <a:lstStyle/>
          <a:p>
            <a:fld id="{BF6B3765-1535-41FB-A927-AAD2D1E85382}" type="slidenum">
              <a:rPr lang="en-US" smtClean="0"/>
              <a:t>5</a:t>
            </a:fld>
            <a:endParaRPr lang="en-US" dirty="0"/>
          </a:p>
        </p:txBody>
      </p:sp>
    </p:spTree>
    <p:extLst>
      <p:ext uri="{BB962C8B-B14F-4D97-AF65-F5344CB8AC3E}">
        <p14:creationId xmlns:p14="http://schemas.microsoft.com/office/powerpoint/2010/main" val="1051114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Lucida Grande"/>
              </a:rPr>
              <a:t>Using the same screen-space data we used for generating fog, we can make simple refractions by effectively “jittering” the UV coordinates underwater.</a:t>
            </a:r>
          </a:p>
          <a:p>
            <a:endParaRPr lang="en-US" b="0" i="0" dirty="0">
              <a:solidFill>
                <a:srgbClr val="222222"/>
              </a:solidFill>
              <a:effectLst/>
              <a:latin typeface="Lucida Grande"/>
            </a:endParaRPr>
          </a:p>
          <a:p>
            <a:r>
              <a:rPr lang="en-US" b="0" i="0" dirty="0">
                <a:solidFill>
                  <a:srgbClr val="222222"/>
                </a:solidFill>
                <a:effectLst/>
                <a:latin typeface="Lucida Grande"/>
              </a:rPr>
              <a:t>Simple refractions can be achieved by taking the X Y coordinates of the surface normal vector, and offsetting the UV of the surface in the direction of those coordinates. This can be scaled, and naturally is, since the higher the ripple, the greater the X Y coordinates of the surface normal, thus greater “jittering”. This can be scaled accordingly. </a:t>
            </a:r>
          </a:p>
          <a:p>
            <a:endParaRPr lang="en-US" b="0" i="0" dirty="0">
              <a:solidFill>
                <a:srgbClr val="222222"/>
              </a:solidFill>
              <a:effectLst/>
              <a:latin typeface="Lucida Grande"/>
            </a:endParaRPr>
          </a:p>
          <a:p>
            <a:r>
              <a:rPr lang="en-US" b="0" i="0" dirty="0">
                <a:solidFill>
                  <a:srgbClr val="222222"/>
                </a:solidFill>
                <a:effectLst/>
                <a:latin typeface="Lucida Grande"/>
              </a:rPr>
              <a:t>The X and Y components of the normal vector work because they lie in the tangent plane. For a flat surface, they are both zero, which produces no offset, so you can always add a constant refraction term to maintain refraction even at zero UV jumps. The higher the water ripples get, the greater the offset becomes and the stronger the refraction effect gets.</a:t>
            </a:r>
            <a:endParaRPr lang="en-US" dirty="0"/>
          </a:p>
        </p:txBody>
      </p:sp>
      <p:sp>
        <p:nvSpPr>
          <p:cNvPr id="4" name="Slide Number Placeholder 3"/>
          <p:cNvSpPr>
            <a:spLocks noGrp="1"/>
          </p:cNvSpPr>
          <p:nvPr>
            <p:ph type="sldNum" sz="quarter" idx="5"/>
          </p:nvPr>
        </p:nvSpPr>
        <p:spPr/>
        <p:txBody>
          <a:bodyPr/>
          <a:lstStyle/>
          <a:p>
            <a:fld id="{BF6B3765-1535-41FB-A927-AAD2D1E85382}" type="slidenum">
              <a:rPr lang="en-US" smtClean="0"/>
              <a:t>6</a:t>
            </a:fld>
            <a:endParaRPr lang="en-US" dirty="0"/>
          </a:p>
        </p:txBody>
      </p:sp>
    </p:spTree>
    <p:extLst>
      <p:ext uri="{BB962C8B-B14F-4D97-AF65-F5344CB8AC3E}">
        <p14:creationId xmlns:p14="http://schemas.microsoft.com/office/powerpoint/2010/main" val="1083448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initial attempt at creating a realistic body of water started with the idea behind a trochoidal or Gerstner wave, where periodic, consistent sets of waves flow through a surface – following the displacement of the surface’s vertices. I was able to successfully generate these waves in a decently complex manner, but incorporating the other things, underwater fog, refraction, etc., was a more complex idea, since Gerstner waves can have multiple waves occurring at different heights on the same plane. This makes the incorporation of fog and refraction tricky since we use tangent-space data to enact those effects, Gerstner waves work on the basis of transforming vertices. That’s not to say refraction/water physics can’t be accomplished for Gerstner waves through different methods.</a:t>
            </a:r>
          </a:p>
        </p:txBody>
      </p:sp>
      <p:sp>
        <p:nvSpPr>
          <p:cNvPr id="4" name="Slide Number Placeholder 3"/>
          <p:cNvSpPr>
            <a:spLocks noGrp="1"/>
          </p:cNvSpPr>
          <p:nvPr>
            <p:ph type="sldNum" sz="quarter" idx="5"/>
          </p:nvPr>
        </p:nvSpPr>
        <p:spPr/>
        <p:txBody>
          <a:bodyPr/>
          <a:lstStyle/>
          <a:p>
            <a:fld id="{BF6B3765-1535-41FB-A927-AAD2D1E85382}" type="slidenum">
              <a:rPr lang="en-US" smtClean="0"/>
              <a:t>7</a:t>
            </a:fld>
            <a:endParaRPr lang="en-US" dirty="0"/>
          </a:p>
        </p:txBody>
      </p:sp>
    </p:spTree>
    <p:extLst>
      <p:ext uri="{BB962C8B-B14F-4D97-AF65-F5344CB8AC3E}">
        <p14:creationId xmlns:p14="http://schemas.microsoft.com/office/powerpoint/2010/main" val="2371002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CAFE9EF-BFD3-43EA-A868-783EE64D3026}" type="datetime1">
              <a:rPr lang="en-US" smtClean="0"/>
              <a:t>12/7/2022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466FB9-D28B-49B1-96AA-2DC4A0B82672}" type="datetime1">
              <a:rPr lang="en-US" smtClean="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6763742-95DB-4727-9E2D-E67133874C57}" type="datetime1">
              <a:rPr lang="en-US" smtClean="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F4C757-AC18-4BD4-B58D-C09C7F56266E}" type="datetime1">
              <a:rPr lang="en-US" smtClean="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A06CBA-D419-41FA-8B3E-D17E24A5F335}" type="datetime1">
              <a:rPr lang="en-US" smtClean="0"/>
              <a:t>12/7/2022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24B8EF-695A-4D91-86E6-BD3ABF986DC6}" type="datetime1">
              <a:rPr lang="en-US" smtClean="0"/>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49A1DA-1075-4AB6-9AFC-9045E23C9F15}" type="datetime1">
              <a:rPr lang="en-US" smtClean="0"/>
              <a:t>12/7/2022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423360-0F07-4AD4-AAF8-61579BDE5A02}" type="datetime1">
              <a:rPr lang="en-US" smtClean="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35D3E4-AEF6-4C0D-955F-4975ADE12833}" type="datetime1">
              <a:rPr lang="en-US" smtClean="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715DF4-6503-424C-B89D-B31483AF0BFD}" type="datetime1">
              <a:rPr lang="en-US" smtClean="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BEE408-CEE3-4069-B613-CB32C19D6587}" type="datetime1">
              <a:rPr lang="en-US" smtClean="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4680C5-3949-48B3-AAD0-C6AC4D6634A8}" type="datetime1">
              <a:rPr lang="en-US" smtClean="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451F9A-4BC0-4BDC-9C0A-439930D3F628}" type="datetime1">
              <a:rPr lang="en-US" smtClean="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C190EB-8738-400A-AFF7-6D1DEC6B76AF}" type="datetime1">
              <a:rPr lang="en-US" smtClean="0"/>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4A0F0B9-B198-4467-8481-337D4552AC07}" type="datetime1">
              <a:rPr lang="en-US" smtClean="0"/>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A7E8C0-DCD6-4618-824E-E5B47E37F774}" type="datetime1">
              <a:rPr lang="en-US" smtClean="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C6133B-A04A-40C7-999B-6B964B69F57E}" type="datetime1">
              <a:rPr lang="en-US" smtClean="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F096B060-2D6F-430E-A017-FCCC5AF2AC19}" type="datetime1">
              <a:rPr lang="en-US" smtClean="0"/>
              <a:t>12/7/2022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 name="Picture 4" descr="up close image of waves">
            <a:extLst>
              <a:ext uri="{FF2B5EF4-FFF2-40B4-BE49-F238E27FC236}">
                <a16:creationId xmlns:a16="http://schemas.microsoft.com/office/drawing/2014/main" id="{9648A932-5E17-4859-9FE3-70EB96EA5C70}"/>
              </a:ext>
            </a:extLst>
          </p:cNvPr>
          <p:cNvPicPr>
            <a:picLocks noChangeAspect="1"/>
          </p:cNvPicPr>
          <p:nvPr/>
        </p:nvPicPr>
        <p:blipFill rotWithShape="1">
          <a:blip r:embed="rId4">
            <a:alphaModFix amt="41000"/>
          </a:blip>
          <a:srcRect l="9091" t="3462" b="19929"/>
          <a:stretch/>
        </p:blipFill>
        <p:spPr>
          <a:xfrm>
            <a:off x="20" y="1"/>
            <a:ext cx="12191980" cy="6858000"/>
          </a:xfrm>
          <a:prstGeom prst="rect">
            <a:avLst/>
          </a:prstGeom>
        </p:spPr>
      </p:pic>
      <p:sp>
        <p:nvSpPr>
          <p:cNvPr id="3" name="Subtitle 2">
            <a:extLst>
              <a:ext uri="{FF2B5EF4-FFF2-40B4-BE49-F238E27FC236}">
                <a16:creationId xmlns:a16="http://schemas.microsoft.com/office/drawing/2014/main" id="{516A0C15-5BB2-41A2-BD46-E18F635D59B0}"/>
              </a:ext>
            </a:extLst>
          </p:cNvPr>
          <p:cNvSpPr>
            <a:spLocks noGrp="1"/>
          </p:cNvSpPr>
          <p:nvPr>
            <p:ph type="subTitle" idx="1"/>
          </p:nvPr>
        </p:nvSpPr>
        <p:spPr>
          <a:xfrm>
            <a:off x="1052691" y="3662320"/>
            <a:ext cx="2000957" cy="754025"/>
          </a:xfrm>
        </p:spPr>
        <p:txBody>
          <a:bodyPr>
            <a:normAutofit fontScale="70000" lnSpcReduction="20000"/>
          </a:bodyPr>
          <a:lstStyle/>
          <a:p>
            <a:pPr algn="l"/>
            <a:r>
              <a:rPr lang="en-US" dirty="0"/>
              <a:t>Ronaldo Cunha</a:t>
            </a:r>
          </a:p>
          <a:p>
            <a:pPr algn="l"/>
            <a:r>
              <a:rPr lang="en-US" dirty="0"/>
              <a:t>CAP 5727</a:t>
            </a:r>
          </a:p>
        </p:txBody>
      </p:sp>
      <p:sp>
        <p:nvSpPr>
          <p:cNvPr id="4" name="TextBox 3">
            <a:extLst>
              <a:ext uri="{FF2B5EF4-FFF2-40B4-BE49-F238E27FC236}">
                <a16:creationId xmlns:a16="http://schemas.microsoft.com/office/drawing/2014/main" id="{1B045AD5-46FF-59B4-B130-11042341008E}"/>
              </a:ext>
            </a:extLst>
          </p:cNvPr>
          <p:cNvSpPr txBox="1"/>
          <p:nvPr/>
        </p:nvSpPr>
        <p:spPr>
          <a:xfrm>
            <a:off x="869133" y="852128"/>
            <a:ext cx="10809838" cy="1446550"/>
          </a:xfrm>
          <a:prstGeom prst="rect">
            <a:avLst/>
          </a:prstGeom>
          <a:noFill/>
        </p:spPr>
        <p:txBody>
          <a:bodyPr wrap="square" rtlCol="0">
            <a:spAutoFit/>
          </a:bodyPr>
          <a:lstStyle/>
          <a:p>
            <a:r>
              <a:rPr lang="en-US" sz="4400" dirty="0">
                <a:latin typeface="+mj-lt"/>
              </a:rPr>
              <a:t>Imitating Water Physics with Texture Distortion and Fake Refraction</a:t>
            </a:r>
          </a:p>
        </p:txBody>
      </p:sp>
      <p:sp>
        <p:nvSpPr>
          <p:cNvPr id="10" name="TextBox 9">
            <a:extLst>
              <a:ext uri="{FF2B5EF4-FFF2-40B4-BE49-F238E27FC236}">
                <a16:creationId xmlns:a16="http://schemas.microsoft.com/office/drawing/2014/main" id="{A007B4FE-1B24-36A3-A38F-7C6D0821899F}"/>
              </a:ext>
            </a:extLst>
          </p:cNvPr>
          <p:cNvSpPr txBox="1"/>
          <p:nvPr/>
        </p:nvSpPr>
        <p:spPr>
          <a:xfrm>
            <a:off x="1052691" y="2647922"/>
            <a:ext cx="3860800" cy="646331"/>
          </a:xfrm>
          <a:prstGeom prst="rect">
            <a:avLst/>
          </a:prstGeom>
          <a:noFill/>
        </p:spPr>
        <p:txBody>
          <a:bodyPr wrap="square" rtlCol="0">
            <a:spAutoFit/>
          </a:bodyPr>
          <a:lstStyle/>
          <a:p>
            <a:r>
              <a:rPr lang="en-US" i="1" dirty="0"/>
              <a:t>Water Flow in Portal 2 – </a:t>
            </a:r>
            <a:r>
              <a:rPr lang="en-US" dirty="0"/>
              <a:t>SIGGRAPH 2010, Valve</a:t>
            </a:r>
          </a:p>
        </p:txBody>
      </p:sp>
      <p:pic>
        <p:nvPicPr>
          <p:cNvPr id="12" name="Picture 11">
            <a:extLst>
              <a:ext uri="{FF2B5EF4-FFF2-40B4-BE49-F238E27FC236}">
                <a16:creationId xmlns:a16="http://schemas.microsoft.com/office/drawing/2014/main" id="{29621E81-63F6-1FA1-C021-8128CADAEF87}"/>
              </a:ext>
            </a:extLst>
          </p:cNvPr>
          <p:cNvPicPr>
            <a:picLocks noChangeAspect="1"/>
          </p:cNvPicPr>
          <p:nvPr/>
        </p:nvPicPr>
        <p:blipFill rotWithShape="1">
          <a:blip r:embed="rId5"/>
          <a:srcRect l="1676" t="2446" r="994"/>
          <a:stretch/>
        </p:blipFill>
        <p:spPr>
          <a:xfrm>
            <a:off x="5489043" y="2647922"/>
            <a:ext cx="6317000" cy="3536845"/>
          </a:xfrm>
          <a:prstGeom prst="rect">
            <a:avLst/>
          </a:prstGeom>
        </p:spPr>
      </p:pic>
      <p:sp>
        <p:nvSpPr>
          <p:cNvPr id="13" name="TextBox 12">
            <a:extLst>
              <a:ext uri="{FF2B5EF4-FFF2-40B4-BE49-F238E27FC236}">
                <a16:creationId xmlns:a16="http://schemas.microsoft.com/office/drawing/2014/main" id="{C87691C9-E0B2-63E4-C907-387CB9367B36}"/>
              </a:ext>
            </a:extLst>
          </p:cNvPr>
          <p:cNvSpPr txBox="1"/>
          <p:nvPr/>
        </p:nvSpPr>
        <p:spPr>
          <a:xfrm>
            <a:off x="5361971" y="6184767"/>
            <a:ext cx="6381549" cy="369332"/>
          </a:xfrm>
          <a:prstGeom prst="rect">
            <a:avLst/>
          </a:prstGeom>
          <a:noFill/>
        </p:spPr>
        <p:txBody>
          <a:bodyPr wrap="square" rtlCol="0">
            <a:spAutoFit/>
          </a:bodyPr>
          <a:lstStyle/>
          <a:p>
            <a:pPr algn="ctr"/>
            <a:r>
              <a:rPr lang="en-US" dirty="0">
                <a:latin typeface="+mj-lt"/>
              </a:rPr>
              <a:t>“Goo” in </a:t>
            </a:r>
            <a:r>
              <a:rPr lang="en-US" i="1" dirty="0">
                <a:latin typeface="+mj-lt"/>
              </a:rPr>
              <a:t>Portal 2</a:t>
            </a:r>
            <a:endParaRPr lang="en-US" dirty="0">
              <a:latin typeface="+mj-lt"/>
            </a:endParaRPr>
          </a:p>
        </p:txBody>
      </p:sp>
    </p:spTree>
    <p:extLst>
      <p:ext uri="{BB962C8B-B14F-4D97-AF65-F5344CB8AC3E}">
        <p14:creationId xmlns:p14="http://schemas.microsoft.com/office/powerpoint/2010/main" val="3549750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p close image of waves">
            <a:extLst>
              <a:ext uri="{FF2B5EF4-FFF2-40B4-BE49-F238E27FC236}">
                <a16:creationId xmlns:a16="http://schemas.microsoft.com/office/drawing/2014/main" id="{692B3DD6-F115-484E-A49B-A9F70B6E8A2E}"/>
              </a:ext>
            </a:extLst>
          </p:cNvPr>
          <p:cNvPicPr>
            <a:picLocks noChangeAspect="1"/>
          </p:cNvPicPr>
          <p:nvPr/>
        </p:nvPicPr>
        <p:blipFill rotWithShape="1">
          <a:blip r:embed="rId3">
            <a:alphaModFix amt="25000"/>
          </a:blip>
          <a:srcRect b="15730"/>
          <a:stretch/>
        </p:blipFill>
        <p:spPr>
          <a:xfrm>
            <a:off x="20" y="1"/>
            <a:ext cx="12191980" cy="6858000"/>
          </a:xfrm>
          <a:prstGeom prst="rect">
            <a:avLst/>
          </a:prstGeom>
        </p:spPr>
      </p:pic>
      <p:sp>
        <p:nvSpPr>
          <p:cNvPr id="2" name="Title 1">
            <a:extLst>
              <a:ext uri="{FF2B5EF4-FFF2-40B4-BE49-F238E27FC236}">
                <a16:creationId xmlns:a16="http://schemas.microsoft.com/office/drawing/2014/main" id="{3312E85E-DDC7-4684-AF8D-342EF677FB0D}"/>
              </a:ext>
            </a:extLst>
          </p:cNvPr>
          <p:cNvSpPr>
            <a:spLocks noGrp="1"/>
          </p:cNvSpPr>
          <p:nvPr>
            <p:ph type="title"/>
          </p:nvPr>
        </p:nvSpPr>
        <p:spPr>
          <a:xfrm>
            <a:off x="838200" y="365125"/>
            <a:ext cx="10515600" cy="1325563"/>
          </a:xfrm>
        </p:spPr>
        <p:txBody>
          <a:bodyPr>
            <a:normAutofit/>
          </a:bodyPr>
          <a:lstStyle/>
          <a:p>
            <a:r>
              <a:rPr lang="en-US" dirty="0"/>
              <a:t>Overview</a:t>
            </a:r>
          </a:p>
        </p:txBody>
      </p:sp>
      <p:sp>
        <p:nvSpPr>
          <p:cNvPr id="5" name="Content Placeholder 4">
            <a:extLst>
              <a:ext uri="{FF2B5EF4-FFF2-40B4-BE49-F238E27FC236}">
                <a16:creationId xmlns:a16="http://schemas.microsoft.com/office/drawing/2014/main" id="{A53691D7-92E4-480D-98EB-B0B45E68C3B6}"/>
              </a:ext>
            </a:extLst>
          </p:cNvPr>
          <p:cNvSpPr>
            <a:spLocks noGrp="1"/>
          </p:cNvSpPr>
          <p:nvPr>
            <p:ph idx="1"/>
          </p:nvPr>
        </p:nvSpPr>
        <p:spPr>
          <a:xfrm>
            <a:off x="900929" y="1455476"/>
            <a:ext cx="5410109" cy="4625254"/>
          </a:xfrm>
        </p:spPr>
        <p:txBody>
          <a:bodyPr/>
          <a:lstStyle/>
          <a:p>
            <a:pPr marL="0" indent="0">
              <a:buNone/>
            </a:pPr>
            <a:r>
              <a:rPr lang="en-US" dirty="0"/>
              <a:t>Goals:</a:t>
            </a:r>
          </a:p>
          <a:p>
            <a:r>
              <a:rPr lang="en-US" dirty="0"/>
              <a:t>Build a low-poly, third person, open-world scene.</a:t>
            </a:r>
          </a:p>
          <a:p>
            <a:r>
              <a:rPr lang="en-US" dirty="0"/>
              <a:t>Create a realistic body of water featuring:</a:t>
            </a:r>
          </a:p>
          <a:p>
            <a:pPr lvl="1"/>
            <a:r>
              <a:rPr lang="en-US" dirty="0"/>
              <a:t>Transparency</a:t>
            </a:r>
          </a:p>
          <a:p>
            <a:pPr lvl="1"/>
            <a:r>
              <a:rPr lang="en-US" dirty="0"/>
              <a:t>Refractions</a:t>
            </a:r>
          </a:p>
          <a:p>
            <a:pPr lvl="1"/>
            <a:r>
              <a:rPr lang="en-US" dirty="0"/>
              <a:t>Underwater Fog</a:t>
            </a:r>
          </a:p>
          <a:p>
            <a:pPr lvl="1"/>
            <a:r>
              <a:rPr lang="en-US" dirty="0"/>
              <a:t>Texture-based Distortion</a:t>
            </a:r>
          </a:p>
          <a:p>
            <a:pPr lvl="1"/>
            <a:r>
              <a:rPr lang="en-US" dirty="0"/>
              <a:t>Specular Reflections</a:t>
            </a:r>
          </a:p>
          <a:p>
            <a:endParaRPr lang="en-US" dirty="0"/>
          </a:p>
        </p:txBody>
      </p:sp>
      <p:pic>
        <p:nvPicPr>
          <p:cNvPr id="10" name="Picture 9">
            <a:extLst>
              <a:ext uri="{FF2B5EF4-FFF2-40B4-BE49-F238E27FC236}">
                <a16:creationId xmlns:a16="http://schemas.microsoft.com/office/drawing/2014/main" id="{600A8F97-0B05-0A1F-6107-D34C191F2419}"/>
              </a:ext>
            </a:extLst>
          </p:cNvPr>
          <p:cNvPicPr>
            <a:picLocks noChangeAspect="1"/>
          </p:cNvPicPr>
          <p:nvPr/>
        </p:nvPicPr>
        <p:blipFill>
          <a:blip r:embed="rId4"/>
          <a:stretch>
            <a:fillRect/>
          </a:stretch>
        </p:blipFill>
        <p:spPr>
          <a:xfrm>
            <a:off x="6311038" y="607445"/>
            <a:ext cx="5590264" cy="3063154"/>
          </a:xfrm>
          <a:prstGeom prst="rect">
            <a:avLst/>
          </a:prstGeom>
        </p:spPr>
      </p:pic>
      <p:pic>
        <p:nvPicPr>
          <p:cNvPr id="6" name="Picture 5">
            <a:extLst>
              <a:ext uri="{FF2B5EF4-FFF2-40B4-BE49-F238E27FC236}">
                <a16:creationId xmlns:a16="http://schemas.microsoft.com/office/drawing/2014/main" id="{1DECC244-C8C6-B392-E19B-57C688A683CB}"/>
              </a:ext>
            </a:extLst>
          </p:cNvPr>
          <p:cNvPicPr>
            <a:picLocks noChangeAspect="1"/>
          </p:cNvPicPr>
          <p:nvPr/>
        </p:nvPicPr>
        <p:blipFill>
          <a:blip r:embed="rId5"/>
          <a:stretch>
            <a:fillRect/>
          </a:stretch>
        </p:blipFill>
        <p:spPr>
          <a:xfrm>
            <a:off x="6263643" y="3767854"/>
            <a:ext cx="5685055" cy="2992891"/>
          </a:xfrm>
          <a:prstGeom prst="rect">
            <a:avLst/>
          </a:prstGeom>
        </p:spPr>
      </p:pic>
    </p:spTree>
    <p:extLst>
      <p:ext uri="{BB962C8B-B14F-4D97-AF65-F5344CB8AC3E}">
        <p14:creationId xmlns:p14="http://schemas.microsoft.com/office/powerpoint/2010/main" val="2692957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DA22-0CEC-BBE9-12E7-FAFD26EBE96C}"/>
              </a:ext>
            </a:extLst>
          </p:cNvPr>
          <p:cNvSpPr>
            <a:spLocks noGrp="1"/>
          </p:cNvSpPr>
          <p:nvPr>
            <p:ph type="title"/>
          </p:nvPr>
        </p:nvSpPr>
        <p:spPr/>
        <p:txBody>
          <a:bodyPr/>
          <a:lstStyle/>
          <a:p>
            <a:r>
              <a:rPr lang="en-US" dirty="0"/>
              <a:t>Texture Distortion</a:t>
            </a:r>
          </a:p>
        </p:txBody>
      </p:sp>
      <p:sp>
        <p:nvSpPr>
          <p:cNvPr id="3" name="Content Placeholder 2">
            <a:extLst>
              <a:ext uri="{FF2B5EF4-FFF2-40B4-BE49-F238E27FC236}">
                <a16:creationId xmlns:a16="http://schemas.microsoft.com/office/drawing/2014/main" id="{869E53FC-693A-62C7-DE1F-78767463CE08}"/>
              </a:ext>
            </a:extLst>
          </p:cNvPr>
          <p:cNvSpPr>
            <a:spLocks noGrp="1"/>
          </p:cNvSpPr>
          <p:nvPr>
            <p:ph idx="1"/>
          </p:nvPr>
        </p:nvSpPr>
        <p:spPr>
          <a:xfrm>
            <a:off x="302489" y="1439941"/>
            <a:ext cx="9866749" cy="5418059"/>
          </a:xfrm>
        </p:spPr>
        <p:txBody>
          <a:bodyPr>
            <a:normAutofit/>
          </a:bodyPr>
          <a:lstStyle/>
          <a:p>
            <a:r>
              <a:rPr lang="en-US" dirty="0"/>
              <a:t>Imitate water physics by manipulating UV coordinates. </a:t>
            </a:r>
          </a:p>
          <a:p>
            <a:r>
              <a:rPr lang="en-US" dirty="0"/>
              <a:t>Generate believable UV flow by varying flow vectors.</a:t>
            </a:r>
          </a:p>
          <a:p>
            <a:r>
              <a:rPr lang="en-US" dirty="0"/>
              <a:t>Can be encapsulated in a flow map, where U and V components are represented by R and G channels, respectively.</a:t>
            </a:r>
          </a:p>
          <a:p>
            <a:r>
              <a:rPr lang="en-US" dirty="0"/>
              <a:t>Stretching and distorting – limit flow animation on time range of 0 to 1 since color map will get distorted beyond recognition (reset).</a:t>
            </a:r>
          </a:p>
          <a:p>
            <a:r>
              <a:rPr lang="en-US" dirty="0"/>
              <a:t>But now it resets every second..</a:t>
            </a:r>
          </a:p>
          <a:p>
            <a:r>
              <a:rPr lang="en-US" dirty="0"/>
              <a:t>Solution – Blending using a map with Perlin noise, which offsets the time non-uniformly across the surface (phase offset).</a:t>
            </a:r>
          </a:p>
          <a:p>
            <a:r>
              <a:rPr lang="en-US" dirty="0"/>
              <a:t>Sample two flows from different phases, and blend them</a:t>
            </a:r>
          </a:p>
          <a:p>
            <a:endParaRPr lang="en-US" dirty="0"/>
          </a:p>
        </p:txBody>
      </p:sp>
      <p:pic>
        <p:nvPicPr>
          <p:cNvPr id="1028" name="Picture 4">
            <a:extLst>
              <a:ext uri="{FF2B5EF4-FFF2-40B4-BE49-F238E27FC236}">
                <a16:creationId xmlns:a16="http://schemas.microsoft.com/office/drawing/2014/main" id="{F287B4DC-A1D7-704A-A9C4-18FF40A3C0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9236" y="1286051"/>
            <a:ext cx="1868055" cy="18680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E7605A6-D3B9-87C7-3B53-917E63CB72AF}"/>
              </a:ext>
            </a:extLst>
          </p:cNvPr>
          <p:cNvSpPr txBox="1"/>
          <p:nvPr/>
        </p:nvSpPr>
        <p:spPr>
          <a:xfrm>
            <a:off x="10169236" y="3154107"/>
            <a:ext cx="1868055" cy="307777"/>
          </a:xfrm>
          <a:prstGeom prst="rect">
            <a:avLst/>
          </a:prstGeom>
          <a:noFill/>
        </p:spPr>
        <p:txBody>
          <a:bodyPr wrap="square" rtlCol="0">
            <a:spAutoFit/>
          </a:bodyPr>
          <a:lstStyle/>
          <a:p>
            <a:pPr algn="ctr"/>
            <a:r>
              <a:rPr lang="en-US" sz="1400" dirty="0"/>
              <a:t>Curl Noise Flow Map</a:t>
            </a:r>
          </a:p>
        </p:txBody>
      </p:sp>
      <p:pic>
        <p:nvPicPr>
          <p:cNvPr id="1034" name="Picture 10">
            <a:extLst>
              <a:ext uri="{FF2B5EF4-FFF2-40B4-BE49-F238E27FC236}">
                <a16:creationId xmlns:a16="http://schemas.microsoft.com/office/drawing/2014/main" id="{74338D78-D5E1-8FBE-F521-79DC67F644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9236" y="4052084"/>
            <a:ext cx="1868055" cy="18680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741807C-44B7-E63E-FB44-F1CB0B19ADF3}"/>
              </a:ext>
            </a:extLst>
          </p:cNvPr>
          <p:cNvSpPr txBox="1"/>
          <p:nvPr/>
        </p:nvSpPr>
        <p:spPr>
          <a:xfrm>
            <a:off x="10169236" y="5920138"/>
            <a:ext cx="1868055" cy="738664"/>
          </a:xfrm>
          <a:prstGeom prst="rect">
            <a:avLst/>
          </a:prstGeom>
          <a:noFill/>
        </p:spPr>
        <p:txBody>
          <a:bodyPr wrap="square" rtlCol="0">
            <a:spAutoFit/>
          </a:bodyPr>
          <a:lstStyle/>
          <a:p>
            <a:pPr algn="ctr"/>
            <a:r>
              <a:rPr lang="en-US" sz="1400" dirty="0"/>
              <a:t>Perlin Noise Flow Map</a:t>
            </a:r>
          </a:p>
          <a:p>
            <a:pPr algn="ctr"/>
            <a:r>
              <a:rPr lang="en-US" sz="1400" dirty="0"/>
              <a:t>Noise in A channel</a:t>
            </a:r>
          </a:p>
          <a:p>
            <a:pPr algn="ctr"/>
            <a:endParaRPr lang="en-US" sz="1400" dirty="0"/>
          </a:p>
        </p:txBody>
      </p:sp>
    </p:spTree>
    <p:extLst>
      <p:ext uri="{BB962C8B-B14F-4D97-AF65-F5344CB8AC3E}">
        <p14:creationId xmlns:p14="http://schemas.microsoft.com/office/powerpoint/2010/main" val="2071443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88156-D2DF-B3EE-8FD5-17CDB4E70D77}"/>
              </a:ext>
            </a:extLst>
          </p:cNvPr>
          <p:cNvSpPr>
            <a:spLocks noGrp="1"/>
          </p:cNvSpPr>
          <p:nvPr>
            <p:ph type="title"/>
          </p:nvPr>
        </p:nvSpPr>
        <p:spPr/>
        <p:txBody>
          <a:bodyPr/>
          <a:lstStyle/>
          <a:p>
            <a:r>
              <a:rPr lang="en-US" dirty="0"/>
              <a:t>Specular Reflections</a:t>
            </a:r>
          </a:p>
        </p:txBody>
      </p:sp>
      <p:sp>
        <p:nvSpPr>
          <p:cNvPr id="3" name="Content Placeholder 2">
            <a:extLst>
              <a:ext uri="{FF2B5EF4-FFF2-40B4-BE49-F238E27FC236}">
                <a16:creationId xmlns:a16="http://schemas.microsoft.com/office/drawing/2014/main" id="{2CC010E0-DE7C-53EE-627C-F7E7BEBD5B41}"/>
              </a:ext>
            </a:extLst>
          </p:cNvPr>
          <p:cNvSpPr>
            <a:spLocks noGrp="1"/>
          </p:cNvSpPr>
          <p:nvPr>
            <p:ph idx="1"/>
          </p:nvPr>
        </p:nvSpPr>
        <p:spPr>
          <a:xfrm>
            <a:off x="397933" y="1599846"/>
            <a:ext cx="8746067" cy="4597753"/>
          </a:xfrm>
        </p:spPr>
        <p:txBody>
          <a:bodyPr>
            <a:normAutofit lnSpcReduction="10000"/>
          </a:bodyPr>
          <a:lstStyle/>
          <a:p>
            <a:r>
              <a:rPr lang="en-US" dirty="0"/>
              <a:t>Incorporate specular reflections:</a:t>
            </a:r>
          </a:p>
          <a:p>
            <a:pPr lvl="1"/>
            <a:r>
              <a:rPr lang="en-US" dirty="0"/>
              <a:t>An albedo texture for water (generally a noise texture that represents color differentials between the bottom/top of waves). </a:t>
            </a:r>
          </a:p>
          <a:p>
            <a:pPr lvl="1"/>
            <a:r>
              <a:rPr lang="en-US" dirty="0"/>
              <a:t>A normal map (height map of our albedo texture) for animating </a:t>
            </a:r>
            <a:r>
              <a:rPr lang="en-US" dirty="0" err="1"/>
              <a:t>normals</a:t>
            </a:r>
            <a:r>
              <a:rPr lang="en-US" dirty="0"/>
              <a:t> and specular reflection. </a:t>
            </a:r>
          </a:p>
          <a:p>
            <a:pPr lvl="1"/>
            <a:r>
              <a:rPr lang="en-US" dirty="0"/>
              <a:t>What happens if flow strength is zero? </a:t>
            </a:r>
          </a:p>
          <a:p>
            <a:pPr lvl="1"/>
            <a:r>
              <a:rPr lang="en-US" dirty="0"/>
              <a:t>..but a better approach:</a:t>
            </a:r>
          </a:p>
          <a:p>
            <a:pPr lvl="2"/>
            <a:r>
              <a:rPr lang="en-US" dirty="0"/>
              <a:t>Derivative maps store height information in texture space (not dependent on the mesh’s state).</a:t>
            </a:r>
          </a:p>
          <a:p>
            <a:pPr lvl="2"/>
            <a:r>
              <a:rPr lang="en-US" dirty="0"/>
              <a:t>transform normal to height differentials, add them, then convert them back to singular normal.</a:t>
            </a:r>
          </a:p>
          <a:p>
            <a:pPr lvl="1"/>
            <a:r>
              <a:rPr lang="en-US" dirty="0"/>
              <a:t>Which can be stored in a derivative map.</a:t>
            </a:r>
          </a:p>
          <a:p>
            <a:pPr lvl="1"/>
            <a:endParaRPr lang="en-US" dirty="0"/>
          </a:p>
        </p:txBody>
      </p:sp>
      <p:pic>
        <p:nvPicPr>
          <p:cNvPr id="2050" name="Picture 2">
            <a:extLst>
              <a:ext uri="{FF2B5EF4-FFF2-40B4-BE49-F238E27FC236}">
                <a16:creationId xmlns:a16="http://schemas.microsoft.com/office/drawing/2014/main" id="{CF202402-7D58-5D3D-787F-909CB77018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5667" y="1972910"/>
            <a:ext cx="2438400" cy="2438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7E0AF44-C04D-6BD5-9E7A-4A15AD028B6F}"/>
              </a:ext>
            </a:extLst>
          </p:cNvPr>
          <p:cNvSpPr txBox="1"/>
          <p:nvPr/>
        </p:nvSpPr>
        <p:spPr>
          <a:xfrm>
            <a:off x="9640839" y="4458406"/>
            <a:ext cx="1868055" cy="523220"/>
          </a:xfrm>
          <a:prstGeom prst="rect">
            <a:avLst/>
          </a:prstGeom>
          <a:noFill/>
        </p:spPr>
        <p:txBody>
          <a:bodyPr wrap="square" rtlCol="0">
            <a:spAutoFit/>
          </a:bodyPr>
          <a:lstStyle/>
          <a:p>
            <a:pPr algn="ctr"/>
            <a:r>
              <a:rPr lang="en-US" sz="1400" dirty="0"/>
              <a:t>Derivative Map</a:t>
            </a:r>
          </a:p>
          <a:p>
            <a:pPr algn="ctr"/>
            <a:endParaRPr lang="en-US" sz="1400" dirty="0"/>
          </a:p>
        </p:txBody>
      </p:sp>
    </p:spTree>
    <p:extLst>
      <p:ext uri="{BB962C8B-B14F-4D97-AF65-F5344CB8AC3E}">
        <p14:creationId xmlns:p14="http://schemas.microsoft.com/office/powerpoint/2010/main" val="1535025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4C4F-128A-1938-0A5E-1340592AED9A}"/>
              </a:ext>
            </a:extLst>
          </p:cNvPr>
          <p:cNvSpPr>
            <a:spLocks noGrp="1"/>
          </p:cNvSpPr>
          <p:nvPr>
            <p:ph type="title"/>
          </p:nvPr>
        </p:nvSpPr>
        <p:spPr>
          <a:xfrm>
            <a:off x="838200" y="60325"/>
            <a:ext cx="10515600" cy="1325563"/>
          </a:xfrm>
        </p:spPr>
        <p:txBody>
          <a:bodyPr/>
          <a:lstStyle/>
          <a:p>
            <a:r>
              <a:rPr lang="en-US" dirty="0"/>
              <a:t>Underwater Fog </a:t>
            </a:r>
          </a:p>
        </p:txBody>
      </p:sp>
      <p:sp>
        <p:nvSpPr>
          <p:cNvPr id="3" name="Content Placeholder 2">
            <a:extLst>
              <a:ext uri="{FF2B5EF4-FFF2-40B4-BE49-F238E27FC236}">
                <a16:creationId xmlns:a16="http://schemas.microsoft.com/office/drawing/2014/main" id="{E21E02BA-A8FC-9628-A914-48EC2C3C9ABA}"/>
              </a:ext>
            </a:extLst>
          </p:cNvPr>
          <p:cNvSpPr>
            <a:spLocks noGrp="1"/>
          </p:cNvSpPr>
          <p:nvPr>
            <p:ph idx="1"/>
          </p:nvPr>
        </p:nvSpPr>
        <p:spPr>
          <a:xfrm>
            <a:off x="838200" y="1061419"/>
            <a:ext cx="10233800" cy="4351338"/>
          </a:xfrm>
        </p:spPr>
        <p:txBody>
          <a:bodyPr>
            <a:normAutofit/>
          </a:bodyPr>
          <a:lstStyle/>
          <a:p>
            <a:r>
              <a:rPr lang="en-US" sz="2400" dirty="0"/>
              <a:t>Simple to implement.</a:t>
            </a:r>
          </a:p>
          <a:p>
            <a:r>
              <a:rPr lang="en-US" sz="2400" dirty="0"/>
              <a:t>Water ambient lighting changes the deeper you go (gets bluer). </a:t>
            </a:r>
          </a:p>
          <a:p>
            <a:r>
              <a:rPr lang="en-US" sz="2400" dirty="0"/>
              <a:t>Implementing fog is the poor man’s version of water light absorption and scattering (but it works).</a:t>
            </a:r>
          </a:p>
          <a:p>
            <a:r>
              <a:rPr lang="en-US" sz="2400" dirty="0"/>
              <a:t>Find the linear depth difference between the surface depth and background depth.</a:t>
            </a:r>
          </a:p>
          <a:p>
            <a:r>
              <a:rPr lang="en-US" sz="2400" dirty="0"/>
              <a:t> Generate an exponential fog gradient – fades to blue exponentially as the depth difference increases.</a:t>
            </a:r>
          </a:p>
          <a:p>
            <a:r>
              <a:rPr lang="en-US" sz="2400" dirty="0"/>
              <a:t>Blend color between the fog and the background.</a:t>
            </a:r>
          </a:p>
          <a:p>
            <a:pPr marL="0" indent="0">
              <a:buNone/>
            </a:pPr>
            <a:endParaRPr lang="en-US" dirty="0"/>
          </a:p>
        </p:txBody>
      </p:sp>
      <p:pic>
        <p:nvPicPr>
          <p:cNvPr id="5" name="Picture 4">
            <a:extLst>
              <a:ext uri="{FF2B5EF4-FFF2-40B4-BE49-F238E27FC236}">
                <a16:creationId xmlns:a16="http://schemas.microsoft.com/office/drawing/2014/main" id="{825644A1-4877-5498-DEB7-D5C0DA9CA73F}"/>
              </a:ext>
            </a:extLst>
          </p:cNvPr>
          <p:cNvPicPr>
            <a:picLocks noChangeAspect="1"/>
          </p:cNvPicPr>
          <p:nvPr/>
        </p:nvPicPr>
        <p:blipFill>
          <a:blip r:embed="rId3"/>
          <a:stretch>
            <a:fillRect/>
          </a:stretch>
        </p:blipFill>
        <p:spPr>
          <a:xfrm>
            <a:off x="4088076" y="4857709"/>
            <a:ext cx="4015847" cy="1877744"/>
          </a:xfrm>
          <a:prstGeom prst="rect">
            <a:avLst/>
          </a:prstGeom>
        </p:spPr>
      </p:pic>
    </p:spTree>
    <p:extLst>
      <p:ext uri="{BB962C8B-B14F-4D97-AF65-F5344CB8AC3E}">
        <p14:creationId xmlns:p14="http://schemas.microsoft.com/office/powerpoint/2010/main" val="549523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79B2-4A46-8622-57BD-5BC3287D5E85}"/>
              </a:ext>
            </a:extLst>
          </p:cNvPr>
          <p:cNvSpPr>
            <a:spLocks noGrp="1"/>
          </p:cNvSpPr>
          <p:nvPr>
            <p:ph type="title"/>
          </p:nvPr>
        </p:nvSpPr>
        <p:spPr>
          <a:xfrm>
            <a:off x="251177" y="-72232"/>
            <a:ext cx="10515600" cy="1325563"/>
          </a:xfrm>
        </p:spPr>
        <p:txBody>
          <a:bodyPr>
            <a:normAutofit/>
          </a:bodyPr>
          <a:lstStyle/>
          <a:p>
            <a:r>
              <a:rPr lang="en-US" sz="4800" dirty="0"/>
              <a:t>Refractions</a:t>
            </a:r>
          </a:p>
        </p:txBody>
      </p:sp>
      <p:sp>
        <p:nvSpPr>
          <p:cNvPr id="3" name="Content Placeholder 2">
            <a:extLst>
              <a:ext uri="{FF2B5EF4-FFF2-40B4-BE49-F238E27FC236}">
                <a16:creationId xmlns:a16="http://schemas.microsoft.com/office/drawing/2014/main" id="{A2EECE56-4500-2978-BC72-3D98C7ED4FB0}"/>
              </a:ext>
            </a:extLst>
          </p:cNvPr>
          <p:cNvSpPr>
            <a:spLocks noGrp="1"/>
          </p:cNvSpPr>
          <p:nvPr>
            <p:ph idx="1"/>
          </p:nvPr>
        </p:nvSpPr>
        <p:spPr>
          <a:xfrm>
            <a:off x="251177" y="911593"/>
            <a:ext cx="10823222" cy="4351338"/>
          </a:xfrm>
        </p:spPr>
        <p:txBody>
          <a:bodyPr>
            <a:normAutofit/>
          </a:bodyPr>
          <a:lstStyle/>
          <a:p>
            <a:r>
              <a:rPr lang="en-US" sz="2400" dirty="0"/>
              <a:t>Visual feedback through a medium like water changes due to how light changes directions as it contacts the medium.</a:t>
            </a:r>
          </a:p>
          <a:p>
            <a:r>
              <a:rPr lang="en-US" sz="2400" dirty="0"/>
              <a:t>Can be achieved by grabbing the screen-space data and non-uniformly pulsating the UV coordinates as the surface moves. </a:t>
            </a:r>
          </a:p>
          <a:p>
            <a:r>
              <a:rPr lang="en-US" sz="2400" dirty="0"/>
              <a:t>Generate a new UV that is a diagonal offset of the original.</a:t>
            </a:r>
          </a:p>
          <a:p>
            <a:r>
              <a:rPr lang="en-US" sz="2400" dirty="0"/>
              <a:t>Make the offset “jitter” by using the XY coordinates of the surface normal to create this offset. </a:t>
            </a:r>
          </a:p>
          <a:p>
            <a:r>
              <a:rPr lang="en-US" sz="2400" dirty="0"/>
              <a:t>Can be scaled – refraction intensity is directly proportional to ripple height, which is related to the length of the flow vector (speed). </a:t>
            </a:r>
          </a:p>
        </p:txBody>
      </p:sp>
      <p:pic>
        <p:nvPicPr>
          <p:cNvPr id="5" name="Picture 4">
            <a:extLst>
              <a:ext uri="{FF2B5EF4-FFF2-40B4-BE49-F238E27FC236}">
                <a16:creationId xmlns:a16="http://schemas.microsoft.com/office/drawing/2014/main" id="{7405B852-90D3-508A-4032-56083D5A1FBC}"/>
              </a:ext>
            </a:extLst>
          </p:cNvPr>
          <p:cNvPicPr>
            <a:picLocks noChangeAspect="1"/>
          </p:cNvPicPr>
          <p:nvPr/>
        </p:nvPicPr>
        <p:blipFill>
          <a:blip r:embed="rId3"/>
          <a:stretch>
            <a:fillRect/>
          </a:stretch>
        </p:blipFill>
        <p:spPr>
          <a:xfrm>
            <a:off x="1513661" y="4520937"/>
            <a:ext cx="3688861" cy="1902442"/>
          </a:xfrm>
          <a:prstGeom prst="rect">
            <a:avLst/>
          </a:prstGeom>
        </p:spPr>
      </p:pic>
      <p:pic>
        <p:nvPicPr>
          <p:cNvPr id="7" name="Picture 6">
            <a:extLst>
              <a:ext uri="{FF2B5EF4-FFF2-40B4-BE49-F238E27FC236}">
                <a16:creationId xmlns:a16="http://schemas.microsoft.com/office/drawing/2014/main" id="{7A476B6C-AAE3-655D-A7DC-78B633846420}"/>
              </a:ext>
            </a:extLst>
          </p:cNvPr>
          <p:cNvPicPr>
            <a:picLocks noChangeAspect="1"/>
          </p:cNvPicPr>
          <p:nvPr/>
        </p:nvPicPr>
        <p:blipFill>
          <a:blip r:embed="rId4"/>
          <a:stretch>
            <a:fillRect/>
          </a:stretch>
        </p:blipFill>
        <p:spPr>
          <a:xfrm>
            <a:off x="6465005" y="4520937"/>
            <a:ext cx="4219916" cy="1902442"/>
          </a:xfrm>
          <a:prstGeom prst="rect">
            <a:avLst/>
          </a:prstGeom>
        </p:spPr>
      </p:pic>
      <p:sp>
        <p:nvSpPr>
          <p:cNvPr id="8" name="TextBox 7">
            <a:extLst>
              <a:ext uri="{FF2B5EF4-FFF2-40B4-BE49-F238E27FC236}">
                <a16:creationId xmlns:a16="http://schemas.microsoft.com/office/drawing/2014/main" id="{0ABC5092-57EB-29CE-0EA1-33127A1EB835}"/>
              </a:ext>
            </a:extLst>
          </p:cNvPr>
          <p:cNvSpPr txBox="1"/>
          <p:nvPr/>
        </p:nvSpPr>
        <p:spPr>
          <a:xfrm>
            <a:off x="2111022" y="6423379"/>
            <a:ext cx="3025422" cy="369332"/>
          </a:xfrm>
          <a:prstGeom prst="rect">
            <a:avLst/>
          </a:prstGeom>
          <a:noFill/>
        </p:spPr>
        <p:txBody>
          <a:bodyPr wrap="square" rtlCol="0">
            <a:spAutoFit/>
          </a:bodyPr>
          <a:lstStyle/>
          <a:p>
            <a:r>
              <a:rPr lang="en-US" dirty="0"/>
              <a:t>Low refraction strength</a:t>
            </a:r>
          </a:p>
        </p:txBody>
      </p:sp>
      <p:sp>
        <p:nvSpPr>
          <p:cNvPr id="9" name="TextBox 8">
            <a:extLst>
              <a:ext uri="{FF2B5EF4-FFF2-40B4-BE49-F238E27FC236}">
                <a16:creationId xmlns:a16="http://schemas.microsoft.com/office/drawing/2014/main" id="{4B42D04D-8E8D-55FB-A98B-1DADC21F44B7}"/>
              </a:ext>
            </a:extLst>
          </p:cNvPr>
          <p:cNvSpPr txBox="1"/>
          <p:nvPr/>
        </p:nvSpPr>
        <p:spPr>
          <a:xfrm>
            <a:off x="7385761" y="6423379"/>
            <a:ext cx="3025422" cy="369332"/>
          </a:xfrm>
          <a:prstGeom prst="rect">
            <a:avLst/>
          </a:prstGeom>
          <a:noFill/>
        </p:spPr>
        <p:txBody>
          <a:bodyPr wrap="square" rtlCol="0">
            <a:spAutoFit/>
          </a:bodyPr>
          <a:lstStyle/>
          <a:p>
            <a:r>
              <a:rPr lang="en-US" dirty="0"/>
              <a:t>High refraction strength</a:t>
            </a:r>
          </a:p>
        </p:txBody>
      </p:sp>
    </p:spTree>
    <p:extLst>
      <p:ext uri="{BB962C8B-B14F-4D97-AF65-F5344CB8AC3E}">
        <p14:creationId xmlns:p14="http://schemas.microsoft.com/office/powerpoint/2010/main" val="265803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52570-3B52-C98B-DE78-E5239CE86C4C}"/>
              </a:ext>
            </a:extLst>
          </p:cNvPr>
          <p:cNvSpPr>
            <a:spLocks noGrp="1"/>
          </p:cNvSpPr>
          <p:nvPr>
            <p:ph type="title"/>
          </p:nvPr>
        </p:nvSpPr>
        <p:spPr/>
        <p:txBody>
          <a:bodyPr/>
          <a:lstStyle/>
          <a:p>
            <a:r>
              <a:rPr lang="en-US" dirty="0"/>
              <a:t>Lessons Learned</a:t>
            </a:r>
          </a:p>
        </p:txBody>
      </p:sp>
      <p:sp>
        <p:nvSpPr>
          <p:cNvPr id="3" name="Content Placeholder 2">
            <a:extLst>
              <a:ext uri="{FF2B5EF4-FFF2-40B4-BE49-F238E27FC236}">
                <a16:creationId xmlns:a16="http://schemas.microsoft.com/office/drawing/2014/main" id="{C5E39F01-5784-A81A-192C-735D6BD815A1}"/>
              </a:ext>
            </a:extLst>
          </p:cNvPr>
          <p:cNvSpPr>
            <a:spLocks noGrp="1"/>
          </p:cNvSpPr>
          <p:nvPr>
            <p:ph idx="1"/>
          </p:nvPr>
        </p:nvSpPr>
        <p:spPr>
          <a:xfrm>
            <a:off x="453955" y="1476200"/>
            <a:ext cx="10515599" cy="4351338"/>
          </a:xfrm>
        </p:spPr>
        <p:txBody>
          <a:bodyPr>
            <a:normAutofit/>
          </a:bodyPr>
          <a:lstStyle/>
          <a:p>
            <a:r>
              <a:rPr lang="en-US" sz="2400" dirty="0"/>
              <a:t>What worked: </a:t>
            </a:r>
          </a:p>
          <a:p>
            <a:pPr lvl="1"/>
            <a:r>
              <a:rPr lang="en-US" sz="2000" dirty="0"/>
              <a:t>Careful surface UV distortion through a combined set of blended flows looks believable.</a:t>
            </a:r>
          </a:p>
          <a:p>
            <a:pPr lvl="1"/>
            <a:r>
              <a:rPr lang="en-US" sz="2000" dirty="0"/>
              <a:t>Specular reflections using a derivative map works with blended flows, in all cases.</a:t>
            </a:r>
          </a:p>
          <a:p>
            <a:pPr lvl="1"/>
            <a:r>
              <a:rPr lang="en-US" sz="2000" dirty="0"/>
              <a:t>Believable refractions can be easily achieved by simply “jittering” offsets of surface </a:t>
            </a:r>
            <a:r>
              <a:rPr lang="en-US" sz="2000" dirty="0" err="1"/>
              <a:t>normals</a:t>
            </a:r>
            <a:r>
              <a:rPr lang="en-US" sz="2000" dirty="0"/>
              <a:t>.</a:t>
            </a:r>
          </a:p>
          <a:p>
            <a:r>
              <a:rPr lang="en-US" sz="2400" dirty="0"/>
              <a:t>What didn’t work: </a:t>
            </a:r>
          </a:p>
          <a:p>
            <a:pPr lvl="1"/>
            <a:r>
              <a:rPr lang="en-US" sz="2000" dirty="0"/>
              <a:t>My initial attempt involved </a:t>
            </a:r>
            <a:r>
              <a:rPr lang="en-US" sz="2000" i="1" dirty="0"/>
              <a:t>Gerstner Waves </a:t>
            </a:r>
            <a:r>
              <a:rPr lang="en-US" sz="2000" dirty="0"/>
              <a:t>and transforming a plane’s geometry – which worked. Incorporating complete refraction and fog was more complex. </a:t>
            </a:r>
          </a:p>
          <a:p>
            <a:pPr lvl="1"/>
            <a:r>
              <a:rPr lang="en-US" sz="2000" dirty="0"/>
              <a:t>Artifacts are rampant in refractions. </a:t>
            </a:r>
          </a:p>
          <a:p>
            <a:r>
              <a:rPr lang="en-US" sz="2400" dirty="0"/>
              <a:t>This implementation has limitations:</a:t>
            </a:r>
          </a:p>
          <a:p>
            <a:pPr lvl="1"/>
            <a:r>
              <a:rPr lang="en-US" sz="2000" dirty="0"/>
              <a:t>Could never work in an interactive way with environment/player interaction.</a:t>
            </a:r>
          </a:p>
          <a:p>
            <a:pPr lvl="1"/>
            <a:r>
              <a:rPr lang="en-US" sz="2000" dirty="0"/>
              <a:t>Coloration/blending below the water surface is lacking.</a:t>
            </a:r>
          </a:p>
          <a:p>
            <a:pPr lvl="1"/>
            <a:r>
              <a:rPr lang="en-US" sz="2000" dirty="0"/>
              <a:t>By no means physically accurate in any realistic sense. </a:t>
            </a:r>
          </a:p>
          <a:p>
            <a:pPr marL="457200" lvl="1" indent="0">
              <a:buNone/>
            </a:pPr>
            <a:endParaRPr lang="en-US" dirty="0"/>
          </a:p>
        </p:txBody>
      </p:sp>
    </p:spTree>
    <p:extLst>
      <p:ext uri="{BB962C8B-B14F-4D97-AF65-F5344CB8AC3E}">
        <p14:creationId xmlns:p14="http://schemas.microsoft.com/office/powerpoint/2010/main" val="2831309476"/>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F23494-F630-4E01-81EA-AA2F2975971E}">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C083022-B7D0-4DE3-9976-6A91422D94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6CE1C2-24FF-4125-B61C-AD39973FCD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Depth design</Template>
  <TotalTime>2437</TotalTime>
  <Words>1586</Words>
  <Application>Microsoft Office PowerPoint</Application>
  <PresentationFormat>Widescreen</PresentationFormat>
  <Paragraphs>90</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Corbel</vt:lpstr>
      <vt:lpstr>Lucida Grande</vt:lpstr>
      <vt:lpstr>Depth</vt:lpstr>
      <vt:lpstr>PowerPoint Presentation</vt:lpstr>
      <vt:lpstr>Overview</vt:lpstr>
      <vt:lpstr>Texture Distortion</vt:lpstr>
      <vt:lpstr>Specular Reflections</vt:lpstr>
      <vt:lpstr>Underwater Fog </vt:lpstr>
      <vt:lpstr>Refractions</vt:lpstr>
      <vt:lpstr>Lessons Learned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Texture Distortion and Refraction: A Low-Poly Approach</dc:title>
  <dc:creator>ronaldoecunha@outlook.com</dc:creator>
  <cp:lastModifiedBy>ronaldoecunha@outlook.com</cp:lastModifiedBy>
  <cp:revision>95</cp:revision>
  <dcterms:created xsi:type="dcterms:W3CDTF">2022-11-27T18:48:28Z</dcterms:created>
  <dcterms:modified xsi:type="dcterms:W3CDTF">2022-12-08T18:38:57Z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